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-914400"/>
            <a:ext cx="4114800" cy="4114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55448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Organic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Demand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Berlin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64008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Presentation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AgriCom × ESMT Berlin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731520" cy="8229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Infrastructure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sources, 47 features, 205 weeks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148840"/>
            <a:ext cx="731520" cy="82296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317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regression, R² = 0.82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3108960"/>
            <a:ext cx="731520" cy="822960"/>
          </a:xfrm>
          <a:prstGeom prst="rect">
            <a:avLst/>
          </a:prstGeom>
          <a:solidFill>
            <a:srgbClr val="52B7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918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(5 Hypotheses)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basket, price, segments, weather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4069080"/>
            <a:ext cx="731520" cy="822960"/>
          </a:xfrm>
          <a:prstGeom prst="rect">
            <a:avLst/>
          </a:prstGeom>
          <a:solidFill>
            <a:srgbClr val="74C69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2519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46304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+ operational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22860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128016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external data signals (search trends, weather, news sentiment, events, economic indicators) forecast organic produce demand in Berlin with enough accuracy and lead time to support operational planning?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743200"/>
            <a:ext cx="548640" cy="32004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4592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as stable leading indicator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548640" cy="32004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weighting scheme validity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548640" cy="32004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differentiation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3977640"/>
            <a:ext cx="548640" cy="32004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64592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Neighborhood-level segmentation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389120"/>
            <a:ext cx="548640" cy="32004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64592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&amp; weather signal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Infrastructure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1,100+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Weather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3,669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4944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AgriCom Data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99232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(daily + 14-day forecast)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93592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6868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28600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records: Bundesliga, holidays, festivals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879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28600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GDELT: 159 articles, 2,856 timeline obs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99232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5836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keywords, weekly, 5-year horizon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593592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6636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58368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OECD, Eurostat, Bundesbank (monthly)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18795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6636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AgriCom Prices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5836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SKUs, 14 origins, wholesale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914400"/>
            <a:ext cx="33832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914400"/>
            <a:ext cx="338328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960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Choices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55448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932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 Essentials basket: tomatoes, leafy greens, cucumbers, bell peppers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5740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932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proxy: Google Trends weighted composite index (35/30/20/15)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8932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features from 8 raw data sources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06324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98932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time-series cross-validation (R² 0.78–0.85)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56616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8932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holdout + walk-forward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H1: Search Signal Stability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132320" y="182880"/>
            <a:ext cx="1645920" cy="4114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0" y="182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SUPPORTED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37160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ACF (52)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Tomaten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Salat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Gurken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Paprika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3200400"/>
            <a:ext cx="73152" cy="1645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3611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products show highly stable seasonal search patterns (ρ &gt; 0.86)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Tomaten: strongest annual cycle (ACF at lag 52 = 0.636)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Salat is the outlier: driven by irregular macro factors, not rigid seasonality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H2: Basket Weighting Validity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949440" y="182880"/>
            <a:ext cx="1828800" cy="41148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182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(SUPPORTED)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097280"/>
            <a:ext cx="256032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/ 30 / 20 / 15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83280" y="10972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097280"/>
            <a:ext cx="2560320" cy="3200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/ 25 / 25 / 25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17920" y="109728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097280"/>
            <a:ext cx="2560320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BMEL-calibrated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/ 25 / 20 / 15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vs Equal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vs BMEL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vs BMEL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3840480"/>
            <a:ext cx="73152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39319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pairwise correlations exceed ρ = 0.97 — the basket index is robust to weighting specification. This validates the composite demand proxy as a stable analytical tool regardless of weight assumptions.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H3: Price Elasticity Differentiation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766560" y="182880"/>
            <a:ext cx="2011680" cy="4114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3"/>
          <p:cNvSpPr/>
          <p:nvPr/>
        </p:nvSpPr>
        <p:spPr>
          <a:xfrm>
            <a:off x="676656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37160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 (β)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 Peppers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Cucumbers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Leafy Greens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3200400"/>
            <a:ext cx="73152" cy="16459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3611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peppers show the only statistically significant price-demand relationship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sign (+0.311) may reflect seasonal confound: both price and demand peak in winter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Tomatoes, cucumbers, and leafy greens are price-inelastic as staple items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wholesale prices used — retail organic prices needed for true elasticity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Weather-Price Dynamics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Temp (r)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Sunshine (r)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 Peppers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−0.502***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−0.214**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Cucumbers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−0.464***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−0.465***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Leafy Greens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−0.427***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−0.312***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+0.332***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+0.436***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383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" y="3383280"/>
            <a:ext cx="3840480" cy="3657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410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Supply-Driven (3 products)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fall in summer as domestic production from Germany and Poland peaks. Spain and Netherlands dominate winter supply. Seasonal origin shifts explain 18–32% of weekly price variance.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3383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3383280"/>
            <a:ext cx="3840480" cy="3657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2" name="Text 8"/>
          <p:cNvSpPr/>
          <p:nvPr/>
        </p:nvSpPr>
        <p:spPr>
          <a:xfrm>
            <a:off x="4937760" y="3410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Demand-Driven (Tomatoes)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3776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Tomatoes are the exception — prices rise with temperature (+0.33) and sunshine (+0.44), suggesting summer demand pressure outweighs supply increases. Unique behavioral driver.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H4: Neighborhood Segmentation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0" y="182880"/>
            <a:ext cx="2377440" cy="411480"/>
          </a:xfrm>
          <a:prstGeom prst="rect">
            <a:avLst/>
          </a:prstGeom>
          <a:solidFill>
            <a:srgbClr val="B8D4E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82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 VALIDATED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160020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1155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Friedrichshain-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Kreuzberg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7432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Sustainability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4320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0.515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057400" y="109728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57400" y="1097280"/>
            <a:ext cx="1600200" cy="41148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3"/>
          <p:cNvSpPr/>
          <p:nvPr/>
        </p:nvSpPr>
        <p:spPr>
          <a:xfrm>
            <a:off x="2103120" y="11155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5740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0.223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05740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48840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Urban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057400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0.642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840480" y="109728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0480" y="1097280"/>
            <a:ext cx="1600200" cy="4114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3" name="Text 20"/>
          <p:cNvSpPr/>
          <p:nvPr/>
        </p:nvSpPr>
        <p:spPr>
          <a:xfrm>
            <a:off x="3886200" y="11155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Charlottenburg-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Wilmersdorf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84048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0.193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384048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931920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Traditionalist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40480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0.551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623560" y="109728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23560" y="1097280"/>
            <a:ext cx="1600200" cy="41148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30" name="Text 27"/>
          <p:cNvSpPr/>
          <p:nvPr/>
        </p:nvSpPr>
        <p:spPr>
          <a:xfrm>
            <a:off x="5669280" y="11155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Pankow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62356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4C6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0.164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562356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715000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Plant-Based Urbanites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623560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0.432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406640" y="109728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406640" y="1097280"/>
            <a:ext cx="1600200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7" name="Text 34"/>
          <p:cNvSpPr/>
          <p:nvPr/>
        </p:nvSpPr>
        <p:spPr>
          <a:xfrm>
            <a:off x="7452360" y="11155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Neukölln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406640" y="1645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0.104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740664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498080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06640" y="3017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0.204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4" name="Text 41"/>
          <p:cNvSpPr/>
          <p:nvPr/>
        </p:nvSpPr>
        <p:spPr>
          <a:xfrm>
            <a:off x="822960" y="39776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regression: segment index coefficient = 0.114 (p &lt; 0.001, R² = 0.448). Highest search intensity in Kreuzberg confirms Premium Sustainability segment drives organic demand. Full validation requires store-level sales data.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H5: Seasonality &amp; Weather Signal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0" y="182880"/>
            <a:ext cx="1463040" cy="41148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82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0.363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Sunshine explains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search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097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50%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variance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+ season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097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4/4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40080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show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weather lag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743200"/>
            <a:ext cx="80467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743200"/>
            <a:ext cx="73152" cy="2103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Findings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31546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sunshine positively predicts search interest; lagged sunshine (3–4 weeks) shows negative reversion effect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significant contemporaneous effect for tomatoes (β = 0.015, p &lt; 0.001) with lag-4 negative correction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effects, Christmas season, and weekend behavior jointly explain &gt; 50% of demand variance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purchasing concentration driven by Germany's Sunday closure laws creates a predictable weekly demand spike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Verdict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6583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07008"/>
            <a:ext cx="502920" cy="41148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Signal Stability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products stable (ρ &gt; 0.86)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1234440"/>
            <a:ext cx="201168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Supported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874520"/>
            <a:ext cx="7863840" cy="6583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984248"/>
            <a:ext cx="502920" cy="41148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Basket Weighting Validity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82880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ρ &gt; 0.97, max MAD = 4.2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2011680"/>
            <a:ext cx="2011680" cy="36576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(Supported)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2651760"/>
            <a:ext cx="7863840" cy="6583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2761488"/>
            <a:ext cx="502920" cy="41148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7889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Elasticity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82880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peppers only significant (+0.311)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0" y="2788920"/>
            <a:ext cx="201168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0080" y="3429000"/>
            <a:ext cx="7863840" cy="6583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3538728"/>
            <a:ext cx="502920" cy="41148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5661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8288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Neighborhood Segmentation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82880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0.448, needs store-level data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0" y="3566160"/>
            <a:ext cx="2011680" cy="365760"/>
          </a:xfrm>
          <a:prstGeom prst="rect">
            <a:avLst/>
          </a:prstGeom>
          <a:solidFill>
            <a:srgbClr val="B8D4E3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 Validated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40080" y="4206240"/>
            <a:ext cx="7863840" cy="6583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731520" y="4315968"/>
            <a:ext cx="502920" cy="411480"/>
          </a:xfrm>
          <a:prstGeom prst="rect">
            <a:avLst/>
          </a:prstGeom>
          <a:solidFill>
            <a:srgbClr val="95D5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4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34340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82880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Seasonality &amp; Weather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82880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 products significant at p &lt; 0.05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400800" y="4343400"/>
            <a:ext cx="2011680" cy="36576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37" name="Text 30"/>
          <p:cNvSpPr/>
          <p:nvPr/>
        </p:nvSpPr>
        <p:spPr>
          <a:xfrm>
            <a:off x="64008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08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organic retail data partnerships: 6-month pilot with 10–15 Berlin retailers for actual prices and volumes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automated data pipelines for Google Trends, Open-Meteo weather, and GDELT sentiment feeds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0332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via Friedrichshain-Kreuzberg pilot: highest adjusted search intensity (0.253), best ROI for signal validation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9"/>
          <p:cNvSpPr/>
          <p:nvPr/>
        </p:nvSpPr>
        <p:spPr>
          <a:xfrm>
            <a:off x="493776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57800" y="1508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Weather-responsive ordering: 14-day forecasts into weekly cycles. Sunny weather → +15% tomato buffer, anticipate pepper/cucumber price drops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5176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5780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origin-sourcing: Spain + Netherlands in winter, Germany + Poland in summer to capture 18–32% price variance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03320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5780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buffer management: peak inventory by Friday to accommodate Saturday rush driven by Sunday closures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14–20 weeks with 2–3 analysts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640080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316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checks, organic premium computation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2801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29968"/>
            <a:ext cx="640080" cy="62179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2996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0665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Elasticity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Cross-price effects, seasonal interactions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029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79776"/>
            <a:ext cx="640080" cy="6217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7977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2816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Forecasting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099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backtesting, feature importance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7797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29584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529584"/>
            <a:ext cx="640080" cy="621792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52958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Validation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analysis by neighborhood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5295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79392"/>
            <a:ext cx="640080" cy="62179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793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1600" y="4315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5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4599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API integration, production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2793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-137160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6459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Been Built.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64008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there to act on it.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AgriCom × ESMT Berlin  |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AgriCom Final Presentation – Results</dc:title>
  <dc:subject>PptxGenJS Presentation</dc:subject>
  <dc:creator>AgriCom / ESMT Berlin</dc:creator>
  <cp:lastModifiedBy>AgriCom / ESMT Berlin</cp:lastModifiedBy>
  <cp:revision>1</cp:revision>
  <dcterms:created xsi:type="dcterms:W3CDTF">2026-04-06T16:18:24Z</dcterms:created>
  <dcterms:modified xsi:type="dcterms:W3CDTF">2026-04-06T16:18:24Z</dcterms:modified>
</cp:coreProperties>
</file>